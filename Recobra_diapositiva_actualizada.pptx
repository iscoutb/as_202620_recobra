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heme/theme3.xml" ContentType="application/vnd.openxmlformats-officedocument.them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1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256" r:id="rId5"/>
    <p:sldId id="261" r:id="rId6"/>
    <p:sldId id="260" r:id="rId7"/>
    <p:sldId id="264" r:id="rId8"/>
    <p:sldId id="273" r:id="rId17"/>
    <p:sldId id="275" r:id="rId19"/>
    <p:sldId id="272" r:id="rId9"/>
    <p:sldId id="265" r:id="rId10"/>
    <p:sldId id="274" r:id="rId18"/>
    <p:sldId id="259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14" Type="http://schemas.openxmlformats.org/officeDocument/2006/relationships/viewProps" Target="viewProps.xml"/>  <Relationship Id="rId17" Type="http://schemas.openxmlformats.org/officeDocument/2006/relationships/slide" Target="slides/slide10.xml"/>
  <Relationship Id="rId18" Type="http://schemas.openxmlformats.org/officeDocument/2006/relationships/slide" Target="slides/slide11.xml"/>
  <Relationship Id="rId19" Type="http://schemas.openxmlformats.org/officeDocument/2006/relationships/slide" Target="slides/slide12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posición de apun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0508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 /><Relationship Id="rId2" Type="http://schemas.openxmlformats.org/officeDocument/2006/relationships/tags" Target="../tags/tag8.xml" /><Relationship Id="rId1" Type="http://schemas.openxmlformats.org/officeDocument/2006/relationships/tags" Target="../tags/tag7.xml" /><Relationship Id="rId6" Type="http://schemas.openxmlformats.org/officeDocument/2006/relationships/slideMaster" Target="../slideMasters/slideMaster1.xml" /><Relationship Id="rId5" Type="http://schemas.openxmlformats.org/officeDocument/2006/relationships/tags" Target="../tags/tag11.xml" /><Relationship Id="rId4" Type="http://schemas.openxmlformats.org/officeDocument/2006/relationships/tags" Target="../tags/tag10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 /><Relationship Id="rId2" Type="http://schemas.openxmlformats.org/officeDocument/2006/relationships/tags" Target="../tags/tag13.xml" /><Relationship Id="rId1" Type="http://schemas.openxmlformats.org/officeDocument/2006/relationships/tags" Target="../tags/tag12.xml" /><Relationship Id="rId6" Type="http://schemas.openxmlformats.org/officeDocument/2006/relationships/slideMaster" Target="../slideMasters/slideMaster1.xml" /><Relationship Id="rId5" Type="http://schemas.openxmlformats.org/officeDocument/2006/relationships/tags" Target="../tags/tag16.xml" /><Relationship Id="rId4" Type="http://schemas.openxmlformats.org/officeDocument/2006/relationships/tags" Target="../tags/tag15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 /><Relationship Id="rId2" Type="http://schemas.openxmlformats.org/officeDocument/2006/relationships/tags" Target="../tags/tag18.xml" /><Relationship Id="rId1" Type="http://schemas.openxmlformats.org/officeDocument/2006/relationships/tags" Target="../tags/tag17.xml" /><Relationship Id="rId6" Type="http://schemas.openxmlformats.org/officeDocument/2006/relationships/slideMaster" Target="../slideMasters/slideMaster1.xml" /><Relationship Id="rId5" Type="http://schemas.openxmlformats.org/officeDocument/2006/relationships/tags" Target="../tags/tag21.xml" /><Relationship Id="rId4" Type="http://schemas.openxmlformats.org/officeDocument/2006/relationships/tags" Target="../tags/tag20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 /><Relationship Id="rId7" Type="http://schemas.openxmlformats.org/officeDocument/2006/relationships/slideMaster" Target="../slideMasters/slideMaster1.xml" /><Relationship Id="rId2" Type="http://schemas.openxmlformats.org/officeDocument/2006/relationships/tags" Target="../tags/tag23.xml" /><Relationship Id="rId1" Type="http://schemas.openxmlformats.org/officeDocument/2006/relationships/tags" Target="../tags/tag22.xml" /><Relationship Id="rId6" Type="http://schemas.openxmlformats.org/officeDocument/2006/relationships/tags" Target="../tags/tag27.xml" /><Relationship Id="rId5" Type="http://schemas.openxmlformats.org/officeDocument/2006/relationships/tags" Target="../tags/tag26.xml" /><Relationship Id="rId4" Type="http://schemas.openxmlformats.org/officeDocument/2006/relationships/tags" Target="../tags/tag25.xml" 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 /><Relationship Id="rId3" Type="http://schemas.openxmlformats.org/officeDocument/2006/relationships/tags" Target="../tags/tag30.xml" /><Relationship Id="rId7" Type="http://schemas.openxmlformats.org/officeDocument/2006/relationships/tags" Target="../tags/tag34.xml" /><Relationship Id="rId2" Type="http://schemas.openxmlformats.org/officeDocument/2006/relationships/tags" Target="../tags/tag29.xml" /><Relationship Id="rId1" Type="http://schemas.openxmlformats.org/officeDocument/2006/relationships/tags" Target="../tags/tag28.xml" /><Relationship Id="rId6" Type="http://schemas.openxmlformats.org/officeDocument/2006/relationships/tags" Target="../tags/tag33.xml" /><Relationship Id="rId5" Type="http://schemas.openxmlformats.org/officeDocument/2006/relationships/tags" Target="../tags/tag32.xml" /><Relationship Id="rId4" Type="http://schemas.openxmlformats.org/officeDocument/2006/relationships/tags" Target="../tags/tag31.xml" /><Relationship Id="rId9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 /><Relationship Id="rId2" Type="http://schemas.openxmlformats.org/officeDocument/2006/relationships/tags" Target="../tags/tag37.xml" /><Relationship Id="rId1" Type="http://schemas.openxmlformats.org/officeDocument/2006/relationships/tags" Target="../tags/tag36.xml" /><Relationship Id="rId5" Type="http://schemas.openxmlformats.org/officeDocument/2006/relationships/slideMaster" Target="../slideMasters/slideMaster1.xml" /><Relationship Id="rId4" Type="http://schemas.openxmlformats.org/officeDocument/2006/relationships/tags" Target="../tags/tag39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 /><Relationship Id="rId2" Type="http://schemas.openxmlformats.org/officeDocument/2006/relationships/tags" Target="../tags/tag41.xml" /><Relationship Id="rId1" Type="http://schemas.openxmlformats.org/officeDocument/2006/relationships/tags" Target="../tags/tag40.xml" /><Relationship Id="rId4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 /><Relationship Id="rId7" Type="http://schemas.openxmlformats.org/officeDocument/2006/relationships/slideMaster" Target="../slideMasters/slideMaster1.xml" /><Relationship Id="rId2" Type="http://schemas.openxmlformats.org/officeDocument/2006/relationships/tags" Target="../tags/tag44.xml" /><Relationship Id="rId1" Type="http://schemas.openxmlformats.org/officeDocument/2006/relationships/tags" Target="../tags/tag43.xml" /><Relationship Id="rId6" Type="http://schemas.openxmlformats.org/officeDocument/2006/relationships/tags" Target="../tags/tag48.xml" /><Relationship Id="rId5" Type="http://schemas.openxmlformats.org/officeDocument/2006/relationships/tags" Target="../tags/tag47.xml" /><Relationship Id="rId4" Type="http://schemas.openxmlformats.org/officeDocument/2006/relationships/tags" Target="../tags/tag46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 /><Relationship Id="rId2" Type="http://schemas.openxmlformats.org/officeDocument/2006/relationships/tags" Target="../tags/tag50.xml" /><Relationship Id="rId1" Type="http://schemas.openxmlformats.org/officeDocument/2006/relationships/tags" Target="../tags/tag49.xml" /><Relationship Id="rId6" Type="http://schemas.openxmlformats.org/officeDocument/2006/relationships/slideMaster" Target="../slideMasters/slideMaster1.xml" /><Relationship Id="rId5" Type="http://schemas.openxmlformats.org/officeDocument/2006/relationships/tags" Target="../tags/tag53.xml" /><Relationship Id="rId4" Type="http://schemas.openxmlformats.org/officeDocument/2006/relationships/tags" Target="../tags/tag52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 /><Relationship Id="rId2" Type="http://schemas.openxmlformats.org/officeDocument/2006/relationships/tags" Target="../tags/tag55.xml" /><Relationship Id="rId1" Type="http://schemas.openxmlformats.org/officeDocument/2006/relationships/tags" Target="../tags/tag54.xml" /><Relationship Id="rId5" Type="http://schemas.openxmlformats.org/officeDocument/2006/relationships/slideMaster" Target="../slideMasters/slideMaster1.xml" /><Relationship Id="rId4" Type="http://schemas.openxmlformats.org/officeDocument/2006/relationships/tags" Target="../tags/tag57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 /><Relationship Id="rId2" Type="http://schemas.openxmlformats.org/officeDocument/2006/relationships/tags" Target="../tags/tag59.xml" /><Relationship Id="rId1" Type="http://schemas.openxmlformats.org/officeDocument/2006/relationships/tags" Target="../tags/tag58.xml" /><Relationship Id="rId6" Type="http://schemas.openxmlformats.org/officeDocument/2006/relationships/slideMaster" Target="../slideMasters/slideMaster1.xml" /><Relationship Id="rId5" Type="http://schemas.openxmlformats.org/officeDocument/2006/relationships/tags" Target="../tags/tag62.xml" /><Relationship Id="rId4" Type="http://schemas.openxmlformats.org/officeDocument/2006/relationships/tags" Target="../tags/tag61.xml" 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 /><Relationship Id="rId3" Type="http://schemas.openxmlformats.org/officeDocument/2006/relationships/tags" Target="../tags/tag73.xml" /><Relationship Id="rId7" Type="http://schemas.openxmlformats.org/officeDocument/2006/relationships/tags" Target="../tags/tag77.xml" /><Relationship Id="rId2" Type="http://schemas.openxmlformats.org/officeDocument/2006/relationships/tags" Target="../tags/tag72.xml" /><Relationship Id="rId1" Type="http://schemas.openxmlformats.org/officeDocument/2006/relationships/tags" Target="../tags/tag71.xml" /><Relationship Id="rId6" Type="http://schemas.openxmlformats.org/officeDocument/2006/relationships/tags" Target="../tags/tag76.xml" /><Relationship Id="rId5" Type="http://schemas.openxmlformats.org/officeDocument/2006/relationships/tags" Target="../tags/tag75.xml" /><Relationship Id="rId10" Type="http://schemas.openxmlformats.org/officeDocument/2006/relationships/image" Target="../media/image2.png" /><Relationship Id="rId4" Type="http://schemas.openxmlformats.org/officeDocument/2006/relationships/tags" Target="../tags/tag74.xml" /><Relationship Id="rId9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 /><Relationship Id="rId2" Type="http://schemas.openxmlformats.org/officeDocument/2006/relationships/tags" Target="../tags/tag80.xml" /><Relationship Id="rId1" Type="http://schemas.openxmlformats.org/officeDocument/2006/relationships/tags" Target="../tags/tag79.xml" /><Relationship Id="rId6" Type="http://schemas.openxmlformats.org/officeDocument/2006/relationships/slideMaster" Target="../slideMasters/slideMaster2.xml" /><Relationship Id="rId5" Type="http://schemas.openxmlformats.org/officeDocument/2006/relationships/tags" Target="../tags/tag83.xml" /><Relationship Id="rId4" Type="http://schemas.openxmlformats.org/officeDocument/2006/relationships/tags" Target="../tags/tag82.xml" 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 /><Relationship Id="rId3" Type="http://schemas.openxmlformats.org/officeDocument/2006/relationships/tags" Target="../tags/tag86.xml" /><Relationship Id="rId7" Type="http://schemas.openxmlformats.org/officeDocument/2006/relationships/tags" Target="../tags/tag90.xml" /><Relationship Id="rId2" Type="http://schemas.openxmlformats.org/officeDocument/2006/relationships/tags" Target="../tags/tag85.xml" /><Relationship Id="rId1" Type="http://schemas.openxmlformats.org/officeDocument/2006/relationships/tags" Target="../tags/tag84.xml" /><Relationship Id="rId6" Type="http://schemas.openxmlformats.org/officeDocument/2006/relationships/tags" Target="../tags/tag89.xml" /><Relationship Id="rId5" Type="http://schemas.openxmlformats.org/officeDocument/2006/relationships/tags" Target="../tags/tag88.xml" /><Relationship Id="rId10" Type="http://schemas.openxmlformats.org/officeDocument/2006/relationships/image" Target="../media/image3.png" /><Relationship Id="rId4" Type="http://schemas.openxmlformats.org/officeDocument/2006/relationships/tags" Target="../tags/tag87.xml" /><Relationship Id="rId9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 /><Relationship Id="rId3" Type="http://schemas.openxmlformats.org/officeDocument/2006/relationships/tags" Target="../tags/tag94.xml" /><Relationship Id="rId7" Type="http://schemas.openxmlformats.org/officeDocument/2006/relationships/tags" Target="../tags/tag98.xml" /><Relationship Id="rId2" Type="http://schemas.openxmlformats.org/officeDocument/2006/relationships/tags" Target="../tags/tag93.xml" /><Relationship Id="rId1" Type="http://schemas.openxmlformats.org/officeDocument/2006/relationships/tags" Target="../tags/tag92.xml" /><Relationship Id="rId6" Type="http://schemas.openxmlformats.org/officeDocument/2006/relationships/tags" Target="../tags/tag97.xml" /><Relationship Id="rId5" Type="http://schemas.openxmlformats.org/officeDocument/2006/relationships/tags" Target="../tags/tag96.xml" /><Relationship Id="rId4" Type="http://schemas.openxmlformats.org/officeDocument/2006/relationships/tags" Target="../tags/tag95.xml" /><Relationship Id="rId9" Type="http://schemas.openxmlformats.org/officeDocument/2006/relationships/image" Target="../media/image3.png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 /><Relationship Id="rId7" Type="http://schemas.openxmlformats.org/officeDocument/2006/relationships/slideMaster" Target="../slideMasters/slideMaster2.xml" /><Relationship Id="rId2" Type="http://schemas.openxmlformats.org/officeDocument/2006/relationships/tags" Target="../tags/tag100.xml" /><Relationship Id="rId1" Type="http://schemas.openxmlformats.org/officeDocument/2006/relationships/tags" Target="../tags/tag99.xml" /><Relationship Id="rId6" Type="http://schemas.openxmlformats.org/officeDocument/2006/relationships/tags" Target="../tags/tag104.xml" /><Relationship Id="rId5" Type="http://schemas.openxmlformats.org/officeDocument/2006/relationships/tags" Target="../tags/tag103.xml" /><Relationship Id="rId4" Type="http://schemas.openxmlformats.org/officeDocument/2006/relationships/tags" Target="../tags/tag102.xml" 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 /><Relationship Id="rId3" Type="http://schemas.openxmlformats.org/officeDocument/2006/relationships/tags" Target="../tags/tag107.xml" /><Relationship Id="rId7" Type="http://schemas.openxmlformats.org/officeDocument/2006/relationships/tags" Target="../tags/tag111.xml" /><Relationship Id="rId2" Type="http://schemas.openxmlformats.org/officeDocument/2006/relationships/tags" Target="../tags/tag106.xml" /><Relationship Id="rId1" Type="http://schemas.openxmlformats.org/officeDocument/2006/relationships/tags" Target="../tags/tag105.xml" /><Relationship Id="rId6" Type="http://schemas.openxmlformats.org/officeDocument/2006/relationships/tags" Target="../tags/tag110.xml" /><Relationship Id="rId5" Type="http://schemas.openxmlformats.org/officeDocument/2006/relationships/tags" Target="../tags/tag109.xml" /><Relationship Id="rId4" Type="http://schemas.openxmlformats.org/officeDocument/2006/relationships/tags" Target="../tags/tag108.xml" /><Relationship Id="rId9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 /><Relationship Id="rId2" Type="http://schemas.openxmlformats.org/officeDocument/2006/relationships/tags" Target="../tags/tag114.xml" /><Relationship Id="rId1" Type="http://schemas.openxmlformats.org/officeDocument/2006/relationships/tags" Target="../tags/tag113.xml" /><Relationship Id="rId5" Type="http://schemas.openxmlformats.org/officeDocument/2006/relationships/slideMaster" Target="../slideMasters/slideMaster2.xml" /><Relationship Id="rId4" Type="http://schemas.openxmlformats.org/officeDocument/2006/relationships/tags" Target="../tags/tag116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 /><Relationship Id="rId2" Type="http://schemas.openxmlformats.org/officeDocument/2006/relationships/tags" Target="../tags/tag118.xml" /><Relationship Id="rId1" Type="http://schemas.openxmlformats.org/officeDocument/2006/relationships/tags" Target="../tags/tag117.xml" /><Relationship Id="rId4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 /><Relationship Id="rId2" Type="http://schemas.openxmlformats.org/officeDocument/2006/relationships/tags" Target="../tags/tag121.xml" /><Relationship Id="rId1" Type="http://schemas.openxmlformats.org/officeDocument/2006/relationships/tags" Target="../tags/tag120.xml" /><Relationship Id="rId5" Type="http://schemas.openxmlformats.org/officeDocument/2006/relationships/slideMaster" Target="../slideMasters/slideMaster2.xml" /><Relationship Id="rId4" Type="http://schemas.openxmlformats.org/officeDocument/2006/relationships/tags" Target="../tags/tag123.xml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 /><Relationship Id="rId2" Type="http://schemas.openxmlformats.org/officeDocument/2006/relationships/tags" Target="../tags/tag125.xml" /><Relationship Id="rId1" Type="http://schemas.openxmlformats.org/officeDocument/2006/relationships/tags" Target="../tags/tag124.xml" /><Relationship Id="rId6" Type="http://schemas.openxmlformats.org/officeDocument/2006/relationships/slideMaster" Target="../slideMasters/slideMaster2.xml" /><Relationship Id="rId5" Type="http://schemas.openxmlformats.org/officeDocument/2006/relationships/tags" Target="../tags/tag128.xml" /><Relationship Id="rId4" Type="http://schemas.openxmlformats.org/officeDocument/2006/relationships/tags" Target="../tags/tag127.xml" 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 /><Relationship Id="rId3" Type="http://schemas.openxmlformats.org/officeDocument/2006/relationships/tags" Target="../tags/tag131.xml" /><Relationship Id="rId7" Type="http://schemas.openxmlformats.org/officeDocument/2006/relationships/tags" Target="../tags/tag135.xml" /><Relationship Id="rId2" Type="http://schemas.openxmlformats.org/officeDocument/2006/relationships/tags" Target="../tags/tag130.xml" /><Relationship Id="rId1" Type="http://schemas.openxmlformats.org/officeDocument/2006/relationships/tags" Target="../tags/tag129.xml" /><Relationship Id="rId6" Type="http://schemas.openxmlformats.org/officeDocument/2006/relationships/tags" Target="../tags/tag134.xml" /><Relationship Id="rId5" Type="http://schemas.openxmlformats.org/officeDocument/2006/relationships/tags" Target="../tags/tag133.xml" /><Relationship Id="rId10" Type="http://schemas.openxmlformats.org/officeDocument/2006/relationships/image" Target="../media/image3.png" /><Relationship Id="rId4" Type="http://schemas.openxmlformats.org/officeDocument/2006/relationships/tags" Target="../tags/tag132.xml" /><Relationship Id="rId9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 /><Relationship Id="rId3" Type="http://schemas.openxmlformats.org/officeDocument/2006/relationships/tags" Target="../tags/tag139.xml" /><Relationship Id="rId7" Type="http://schemas.openxmlformats.org/officeDocument/2006/relationships/tags" Target="../tags/tag143.xml" /><Relationship Id="rId12" Type="http://schemas.openxmlformats.org/officeDocument/2006/relationships/slideMaster" Target="../slideMasters/slideMaster2.xml" /><Relationship Id="rId2" Type="http://schemas.openxmlformats.org/officeDocument/2006/relationships/tags" Target="../tags/tag138.xml" /><Relationship Id="rId1" Type="http://schemas.openxmlformats.org/officeDocument/2006/relationships/tags" Target="../tags/tag137.xml" /><Relationship Id="rId6" Type="http://schemas.openxmlformats.org/officeDocument/2006/relationships/tags" Target="../tags/tag142.xml" /><Relationship Id="rId11" Type="http://schemas.openxmlformats.org/officeDocument/2006/relationships/tags" Target="../tags/tag147.xml" /><Relationship Id="rId5" Type="http://schemas.openxmlformats.org/officeDocument/2006/relationships/tags" Target="../tags/tag141.xml" /><Relationship Id="rId10" Type="http://schemas.openxmlformats.org/officeDocument/2006/relationships/tags" Target="../tags/tag146.xml" /><Relationship Id="rId4" Type="http://schemas.openxmlformats.org/officeDocument/2006/relationships/tags" Target="../tags/tag140.xml" /><Relationship Id="rId9" Type="http://schemas.openxmlformats.org/officeDocument/2006/relationships/tags" Target="../tags/tag145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</a:p>
        </p:txBody>
      </p:sp>
      <p:sp>
        <p:nvSpPr>
          <p:cNvPr id="16" name="Marcador de fecha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17" name="Marcador de pie de página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s-ES" dirty="0"/>
              <a:t>Editar el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texto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ido en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texto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texto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s-ES" smtClean="0"/>
              <a:t>05/10/2026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ítulo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s-ES"/>
              <a:t>Editar el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s-ES" smtClean="0"/>
              <a:t>‹Nº›</a:t>
            </a:fld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s-ES"/>
              <a:t>Editar el 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s-ES" dirty="0"/>
              <a:t>Editar el estilo de texto del patrón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3"/>
            </p:custDataLst>
          </p:nvPr>
        </p:nvSpPr>
        <p:spPr>
          <a:xfrm>
            <a:off x="1151890" y="1365885"/>
            <a:ext cx="6343015" cy="7969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1151890" y="2314575"/>
            <a:ext cx="9429115" cy="1647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1151890" y="4104640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70" y="2009774"/>
            <a:ext cx="8619066" cy="4848225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3"/>
            </p:custDataLst>
          </p:nvPr>
        </p:nvCxnSpPr>
        <p:spPr>
          <a:xfrm>
            <a:off x="10600690" y="1176655"/>
            <a:ext cx="9874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4"/>
            </p:custDataLst>
          </p:nvPr>
        </p:nvCxnSpPr>
        <p:spPr>
          <a:xfrm>
            <a:off x="-1270" y="1593215"/>
            <a:ext cx="12193270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362700" y="531495"/>
            <a:ext cx="533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73785" y="1535430"/>
            <a:ext cx="5628640" cy="1141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73785" y="2767965"/>
            <a:ext cx="8561705" cy="2929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8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"/>
            </p:custDataLst>
          </p:nvPr>
        </p:nvSpPr>
        <p:spPr>
          <a:xfrm>
            <a:off x="608330" y="234315"/>
            <a:ext cx="10968990" cy="786130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705601" y="-1"/>
            <a:ext cx="5486399" cy="30860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978337"/>
            <a:ext cx="10452735" cy="5879663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5038090" y="4172585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796415" y="1999615"/>
            <a:ext cx="8939530" cy="151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jeta de texto y sinopsis_3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s-ES" altLang="en-US"/>
              <a:t>Haga clic para agregar título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2"/>
            </p:custDataLst>
          </p:nvPr>
        </p:nvSpPr>
        <p:spPr>
          <a:xfrm>
            <a:off x="6096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altLang="en-US"/>
              <a:t> </a:t>
            </a:r>
          </a:p>
        </p:txBody>
      </p:sp>
      <p:sp>
        <p:nvSpPr>
          <p:cNvPr id="8" name="Marcador de posición de texto 7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9144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Título del elemento</a:t>
            </a:r>
          </a:p>
        </p:txBody>
      </p:sp>
      <p:sp>
        <p:nvSpPr>
          <p:cNvPr id="9" name="Marcador de posición de texto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9144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Haz clic aquí para añadir el Cuerpo del elemento</a:t>
            </a:r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43688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altLang="en-US"/>
              <a:t> </a:t>
            </a:r>
          </a:p>
        </p:txBody>
      </p:sp>
      <p:sp>
        <p:nvSpPr>
          <p:cNvPr id="11" name="Marcador de posición de texto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6736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Título del elemento</a:t>
            </a:r>
          </a:p>
        </p:txBody>
      </p:sp>
      <p:sp>
        <p:nvSpPr>
          <p:cNvPr id="12" name="Marcador de posición de texto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6736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Haz clic aquí para añadir el Cuerpo del elemento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81280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altLang="en-US"/>
              <a:t> </a:t>
            </a:r>
          </a:p>
        </p:txBody>
      </p:sp>
      <p:sp>
        <p:nvSpPr>
          <p:cNvPr id="14" name="Marcador de posición de texto 13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4328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Título del elemento</a:t>
            </a:r>
          </a:p>
        </p:txBody>
      </p:sp>
      <p:sp>
        <p:nvSpPr>
          <p:cNvPr id="15" name="Marcador de posición de texto 1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328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Haz clic aquí para añadir el Cuerpo del elemento</a:t>
            </a:r>
          </a:p>
        </p:txBody>
      </p:sp>
      <p:sp>
        <p:nvSpPr>
          <p:cNvPr id="16" name="Marcador de posición de texto 15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n-US"/>
              <a:t>Haz clic aquí para añadir el Cuerpo de Texto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ags" Target="../tags/tag1.xml" /><Relationship Id="rId18" Type="http://schemas.openxmlformats.org/officeDocument/2006/relationships/tags" Target="../tags/tag6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17" Type="http://schemas.openxmlformats.org/officeDocument/2006/relationships/tags" Target="../tags/tag5.xml" /><Relationship Id="rId2" Type="http://schemas.openxmlformats.org/officeDocument/2006/relationships/slideLayout" Target="../slideLayouts/slideLayout2.xml" /><Relationship Id="rId16" Type="http://schemas.openxmlformats.org/officeDocument/2006/relationships/tags" Target="../tags/tag4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ags" Target="../tags/tag3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ags" Target="../tags/tag2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theme" Target="../theme/theme2.xml" /><Relationship Id="rId18" Type="http://schemas.openxmlformats.org/officeDocument/2006/relationships/tags" Target="../tags/tag67.xml" /><Relationship Id="rId3" Type="http://schemas.openxmlformats.org/officeDocument/2006/relationships/slideLayout" Target="../slideLayouts/slideLayout14.xml" /><Relationship Id="rId21" Type="http://schemas.openxmlformats.org/officeDocument/2006/relationships/tags" Target="../tags/tag70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tags" Target="../tags/tag66.xml" /><Relationship Id="rId2" Type="http://schemas.openxmlformats.org/officeDocument/2006/relationships/slideLayout" Target="../slideLayouts/slideLayout13.xml" /><Relationship Id="rId16" Type="http://schemas.openxmlformats.org/officeDocument/2006/relationships/tags" Target="../tags/tag65.xml" /><Relationship Id="rId20" Type="http://schemas.openxmlformats.org/officeDocument/2006/relationships/tags" Target="../tags/tag69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tags" Target="../tags/tag64.xml" /><Relationship Id="rId10" Type="http://schemas.openxmlformats.org/officeDocument/2006/relationships/slideLayout" Target="../slideLayouts/slideLayout21.xml" /><Relationship Id="rId19" Type="http://schemas.openxmlformats.org/officeDocument/2006/relationships/tags" Target="../tags/tag68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tags" Target="../tags/tag63.xml" /><Relationship Id="rId22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s-ES" smtClean="0"/>
              <a:t>‹Nº›</a:t>
            </a:fld>
            <a:endParaRPr lang="es-E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22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392001" y="360000"/>
            <a:ext cx="10800000" cy="64980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 /><Relationship Id="rId2" Type="http://schemas.openxmlformats.org/officeDocument/2006/relationships/tags" Target="../tags/tag154.xml" /><Relationship Id="rId1" Type="http://schemas.openxmlformats.org/officeDocument/2006/relationships/tags" Target="../tags/tag153.xml" /><Relationship Id="rId5" Type="http://schemas.openxmlformats.org/officeDocument/2006/relationships/image" Target="../media/image4.png" /><Relationship Id="rId4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 /><Relationship Id="rId2" Type="http://schemas.openxmlformats.org/officeDocument/2006/relationships/tags" Target="../tags/tag157.xml" /><Relationship Id="rId1" Type="http://schemas.openxmlformats.org/officeDocument/2006/relationships/tags" Target="../tags/tag156.xml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 /><Relationship Id="rId2" Type="http://schemas.openxmlformats.org/officeDocument/2006/relationships/tags" Target="../tags/tag159.xml" /><Relationship Id="rId1" Type="http://schemas.openxmlformats.org/officeDocument/2006/relationships/tags" Target="../tags/tag158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slideLayout" Target="../slideLayouts/slideLayout13.xml" /><Relationship Id="rId1" Type="http://schemas.openxmlformats.org/officeDocument/2006/relationships/tags" Target="../tags/tag160.xml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 /><Relationship Id="rId7" Type="http://schemas.openxmlformats.org/officeDocument/2006/relationships/slideLayout" Target="../slideLayouts/slideLayout17.xml" /><Relationship Id="rId2" Type="http://schemas.openxmlformats.org/officeDocument/2006/relationships/tags" Target="../tags/tag162.xml" /><Relationship Id="rId1" Type="http://schemas.openxmlformats.org/officeDocument/2006/relationships/tags" Target="../tags/tag161.xml" /><Relationship Id="rId6" Type="http://schemas.openxmlformats.org/officeDocument/2006/relationships/tags" Target="../tags/tag166.xml" /><Relationship Id="rId5" Type="http://schemas.openxmlformats.org/officeDocument/2006/relationships/tags" Target="../tags/tag165.xml" /><Relationship Id="rId4" Type="http://schemas.openxmlformats.org/officeDocument/2006/relationships/tags" Target="../tags/tag164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 /><Relationship Id="rId13" Type="http://schemas.openxmlformats.org/officeDocument/2006/relationships/notesSlide" Target="../notesSlides/notesSlide1.xml" /><Relationship Id="rId3" Type="http://schemas.openxmlformats.org/officeDocument/2006/relationships/tags" Target="../tags/tag169.xml" /><Relationship Id="rId7" Type="http://schemas.openxmlformats.org/officeDocument/2006/relationships/tags" Target="../tags/tag173.xml" /><Relationship Id="rId12" Type="http://schemas.openxmlformats.org/officeDocument/2006/relationships/slideLayout" Target="../slideLayouts/slideLayout23.xml" /><Relationship Id="rId2" Type="http://schemas.openxmlformats.org/officeDocument/2006/relationships/tags" Target="../tags/tag168.xml" /><Relationship Id="rId1" Type="http://schemas.openxmlformats.org/officeDocument/2006/relationships/tags" Target="../tags/tag167.xml" /><Relationship Id="rId6" Type="http://schemas.openxmlformats.org/officeDocument/2006/relationships/tags" Target="../tags/tag172.xml" /><Relationship Id="rId11" Type="http://schemas.openxmlformats.org/officeDocument/2006/relationships/tags" Target="../tags/tag177.xml" /><Relationship Id="rId5" Type="http://schemas.openxmlformats.org/officeDocument/2006/relationships/tags" Target="../tags/tag171.xml" /><Relationship Id="rId10" Type="http://schemas.openxmlformats.org/officeDocument/2006/relationships/tags" Target="../tags/tag176.xml" /><Relationship Id="rId4" Type="http://schemas.openxmlformats.org/officeDocument/2006/relationships/tags" Target="../tags/tag170.xml" /><Relationship Id="rId9" Type="http://schemas.openxmlformats.org/officeDocument/2006/relationships/tags" Target="../tags/tag17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 /><Relationship Id="rId2" Type="http://schemas.openxmlformats.org/officeDocument/2006/relationships/tags" Target="../tags/tag179.xml" /><Relationship Id="rId1" Type="http://schemas.openxmlformats.org/officeDocument/2006/relationships/tags" Target="../tags/tag178.xml" /><Relationship Id="rId4" Type="http://schemas.openxmlformats.org/officeDocument/2006/relationships/notesSlide" Target="../notesSlides/notesSlide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dokploy.png" /><Relationship Id="rId2" Type="http://schemas.openxmlformats.org/officeDocument/2006/relationships/slideLayout" Target="../slideLayouts/slideLayout13.xml" 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ui_v1.png" /><Relationship Id="rId2" Type="http://schemas.openxmlformats.org/officeDocument/2006/relationships/slideLayout" Target="../slideLayouts/slideLayout1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resultado_s1.png" /><Relationship Id="rId2" Type="http://schemas.openxmlformats.org/officeDocument/2006/relationships/slideLayout" Target="../slideLayouts/slideLayout13.xml" 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1151890" y="870585"/>
            <a:ext cx="6343015" cy="796925"/>
          </a:xfrm>
        </p:spPr>
        <p:txBody>
          <a:bodyPr/>
          <a:lstStyle/>
          <a:p>
            <a:r>
              <a:rPr lang="es-ES" altLang="en-US">
                <a:ea typeface="+mn-ea"/>
              </a:rPr>
              <a:t>Recupera tus objetos con:</a:t>
            </a:r>
          </a:p>
        </p:txBody>
      </p:sp>
      <p:sp>
        <p:nvSpPr>
          <p:cNvPr id="7" name="文本占位符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0" y="3136900"/>
            <a:ext cx="7035800" cy="371411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vert="horz" wrap="square" lIns="91440" tIns="0" rIns="9144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rgbClr val="FFFFFF"/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57150" indent="-285750" algn="l">
              <a:buFont typeface="Arial" panose="020B0604020202020204" pitchFamily="34" charset="0"/>
              <a:buChar char="•"/>
            </a:pPr>
            <a:r>
              <a:rPr lang="en-US" altLang="es-ES" sz="1800">
                <a:solidFill>
                  <a:schemeClr val="accent1"/>
                </a:solidFill>
              </a:rPr>
              <a:t>Camilo Conde</a:t>
            </a:r>
          </a:p>
          <a:p>
            <a:pPr indent="0" algn="l">
              <a:buFont typeface="Arial" panose="020B0604020202020204" pitchFamily="34" charset="0"/>
            </a:pPr>
            <a:endParaRPr lang="es-ES" altLang="en-US" sz="1800">
              <a:solidFill>
                <a:schemeClr val="accent1"/>
              </a:solidFill>
            </a:endParaRPr>
          </a:p>
          <a:p>
            <a:pPr marL="57150" indent="-285750" algn="l">
              <a:buFont typeface="Arial" panose="020B0604020202020204" pitchFamily="34" charset="0"/>
              <a:buChar char="•"/>
            </a:pPr>
            <a:r>
              <a:rPr lang="en-US" altLang="es-ES" sz="1800">
                <a:solidFill>
                  <a:schemeClr val="accent1"/>
                </a:solidFill>
              </a:rPr>
              <a:t>Miguel Jacome</a:t>
            </a:r>
          </a:p>
          <a:p>
            <a:pPr indent="0" algn="l">
              <a:buFont typeface="Arial" panose="020B0604020202020204" pitchFamily="34" charset="0"/>
            </a:pPr>
            <a:endParaRPr lang="es-ES" altLang="en-US" sz="1800">
              <a:solidFill>
                <a:schemeClr val="accent1"/>
              </a:solidFill>
            </a:endParaRPr>
          </a:p>
          <a:p>
            <a:pPr marL="57150" indent="-285750" algn="l">
              <a:buFont typeface="Arial" panose="020B0604020202020204" pitchFamily="34" charset="0"/>
              <a:buChar char="•"/>
            </a:pPr>
            <a:r>
              <a:rPr lang="en-US" altLang="es-ES" sz="1800">
                <a:solidFill>
                  <a:schemeClr val="accent1"/>
                </a:solidFill>
              </a:rPr>
              <a:t>Ver</a:t>
            </a:r>
            <a:r>
              <a:rPr lang="en-US" altLang="en-US" sz="1800">
                <a:solidFill>
                  <a:schemeClr val="accent1"/>
                </a:solidFill>
              </a:rPr>
              <a:t>ó</a:t>
            </a:r>
            <a:r>
              <a:rPr lang="en-US" altLang="es-ES" sz="1800">
                <a:solidFill>
                  <a:schemeClr val="accent1"/>
                </a:solidFill>
              </a:rPr>
              <a:t>nica Ubarne</a:t>
            </a:r>
          </a:p>
          <a:p>
            <a:pPr indent="0" algn="l">
              <a:buFont typeface="Arial" panose="020B0604020202020204" pitchFamily="34" charset="0"/>
            </a:pPr>
            <a:endParaRPr lang="es-ES" altLang="en-US" sz="1800">
              <a:solidFill>
                <a:schemeClr val="accent1"/>
              </a:solidFill>
            </a:endParaRPr>
          </a:p>
          <a:p>
            <a:pPr marL="57150" indent="-285750" algn="l">
              <a:buFont typeface="Arial" panose="020B0604020202020204" pitchFamily="34" charset="0"/>
              <a:buChar char="•"/>
            </a:pPr>
            <a:r>
              <a:rPr lang="en-US" altLang="es-ES" sz="1800">
                <a:solidFill>
                  <a:schemeClr val="accent1"/>
                </a:solidFill>
              </a:rPr>
              <a:t>Fernando Conde</a:t>
            </a:r>
          </a:p>
        </p:txBody>
      </p:sp>
      <p:pic>
        <p:nvPicPr>
          <p:cNvPr id="12" name="Imagen 11" descr="e96b5669-aed1-4359-af99-0669297dca1c_removalai_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405" y="1667510"/>
            <a:ext cx="5446395" cy="13271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908050" y="500380"/>
            <a:ext cx="10376535" cy="730885"/>
          </a:xfrm>
        </p:spPr>
        <p:txBody>
          <a:bodyPr>
            <a:noAutofit/>
          </a:bodyPr>
          <a:lstStyle/>
          <a:p>
            <a:r>
              <a:rPr lang="es-ES" altLang="en-US"/>
              <a:t>¿QUÉ ES Y COMO FUNCIONA “RECOBRA”?</a:t>
            </a:r>
          </a:p>
        </p:txBody>
      </p:sp>
      <p:sp>
        <p:nvSpPr>
          <p:cNvPr id="5" name="Cuadro de texto 4"/>
          <p:cNvSpPr txBox="1"/>
          <p:nvPr/>
        </p:nvSpPr>
        <p:spPr>
          <a:xfrm>
            <a:off x="241300" y="1736725"/>
            <a:ext cx="6678295" cy="1320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ES" altLang="en-US" sz="2400" b="1"/>
              <a:t>¿Qué es?:</a:t>
            </a:r>
            <a:r>
              <a:rPr lang="es-ES" altLang="en-US" sz="2400"/>
              <a:t> </a:t>
            </a:r>
            <a:r>
              <a:rPr lang="en-US" altLang="es-ES" sz="2400"/>
              <a:t>Recobra es una plataforma </a:t>
            </a:r>
            <a:r>
              <a:rPr lang="es-ES" altLang="en-US" sz="2400"/>
              <a:t>donde puedes</a:t>
            </a:r>
            <a:r>
              <a:rPr lang="en-US" altLang="es-ES" sz="2400"/>
              <a:t> publicar y encontrar objetos perdidos dentro del campus.</a:t>
            </a:r>
            <a:endParaRPr lang="es-ES" altLang="en-US" sz="2400"/>
          </a:p>
        </p:txBody>
      </p:sp>
      <p:pic>
        <p:nvPicPr>
          <p:cNvPr id="6" name="Imagen 5" descr="pan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55" y="1736725"/>
            <a:ext cx="3354705" cy="4798695"/>
          </a:xfrm>
          <a:prstGeom prst="rect">
            <a:avLst/>
          </a:prstGeom>
        </p:spPr>
      </p:pic>
      <p:sp>
        <p:nvSpPr>
          <p:cNvPr id="7" name="Cuadro de texto 6"/>
          <p:cNvSpPr txBox="1"/>
          <p:nvPr/>
        </p:nvSpPr>
        <p:spPr>
          <a:xfrm>
            <a:off x="332740" y="3429000"/>
            <a:ext cx="66014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n-US" sz="2400" b="1">
                <a:sym typeface="+mn-ea"/>
              </a:rPr>
              <a:t>¿Cómo funciona?:</a:t>
            </a:r>
            <a:r>
              <a:rPr lang="es-ES" altLang="en-US" sz="2400">
                <a:sym typeface="+mn-ea"/>
              </a:rPr>
              <a:t> Despues de perder un objeto o encontrar un objeto el usuario puede revisar la aplicación para verificar si un objeto perdido cuadra con la descripción, o en debido caso publicar un objeto que hayas encontrado.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365760" y="226695"/>
            <a:ext cx="5300980" cy="1054735"/>
          </a:xfrm>
        </p:spPr>
        <p:txBody>
          <a:bodyPr/>
          <a:lstStyle/>
          <a:p>
            <a:r>
              <a:rPr lang="es-ES" altLang="en-US"/>
              <a:t>¿Qué tenemos?</a:t>
            </a:r>
          </a:p>
        </p:txBody>
      </p:sp>
      <p:sp>
        <p:nvSpPr>
          <p:cNvPr id="6" name="Cuadro de texto 5"/>
          <p:cNvSpPr txBox="1"/>
          <p:nvPr/>
        </p:nvSpPr>
        <p:spPr>
          <a:xfrm>
            <a:off x="365760" y="1281430"/>
            <a:ext cx="406400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Font typeface="Arial" panose="020B0604020202020204" pitchFamily="34" charset="0"/>
              <a:buNone/>
            </a:pPr>
            <a:r>
              <a:rPr lang="es-ES" altLang="en-US" sz="2400" b="1"/>
              <a:t>Gestión:</a:t>
            </a:r>
            <a:endParaRPr lang="es-ES" altLang="en-US" b="1"/>
          </a:p>
          <a:p>
            <a:pPr indent="0" algn="l">
              <a:buFont typeface="Arial" panose="020B0604020202020204" pitchFamily="34" charset="0"/>
              <a:buNone/>
            </a:pPr>
            <a:endParaRPr lang="en-US" altLang="es-ES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b="1"/>
              <a:t>Publicar</a:t>
            </a:r>
            <a:r>
              <a:rPr lang="es-ES" altLang="en-US" b="1"/>
              <a:t>:</a:t>
            </a:r>
            <a:r>
              <a:rPr lang="en-US" altLang="es-ES" sz="1600"/>
              <a:t> </a:t>
            </a:r>
            <a:r>
              <a:rPr lang="es-ES" altLang="en-US" sz="1600"/>
              <a:t>U</a:t>
            </a:r>
            <a:r>
              <a:rPr lang="en-US" altLang="es-ES" sz="1600"/>
              <a:t>n objeto como perdido o encontrado.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b="1"/>
              <a:t>Consultar</a:t>
            </a:r>
            <a:r>
              <a:rPr lang="es-ES" altLang="en-US" b="1"/>
              <a:t>:</a:t>
            </a:r>
            <a:r>
              <a:rPr lang="en-US" altLang="es-ES" sz="1600"/>
              <a:t> </a:t>
            </a:r>
            <a:r>
              <a:rPr lang="es-ES" altLang="en-US" sz="1600"/>
              <a:t>C</a:t>
            </a:r>
            <a:r>
              <a:rPr lang="en-US" altLang="es-ES" sz="1600"/>
              <a:t>ada publicaci</a:t>
            </a:r>
            <a:r>
              <a:rPr lang="en-US" altLang="en-US" sz="1600"/>
              <a:t>ó</a:t>
            </a:r>
            <a:r>
              <a:rPr lang="en-US" altLang="es-ES" sz="1600"/>
              <a:t>n</a:t>
            </a:r>
            <a:r>
              <a:rPr lang="es-ES" altLang="en-US" sz="1600"/>
              <a:t> hecha</a:t>
            </a:r>
            <a:r>
              <a:rPr lang="en-US" altLang="es-ES" sz="160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b="1"/>
              <a:t>Buscar</a:t>
            </a:r>
            <a:r>
              <a:rPr lang="es-ES" altLang="en-US" b="1"/>
              <a:t>:</a:t>
            </a:r>
            <a:r>
              <a:rPr lang="en-US" altLang="es-ES" sz="1600" b="1"/>
              <a:t> </a:t>
            </a:r>
            <a:r>
              <a:rPr lang="es-ES" altLang="en-US" sz="1600"/>
              <a:t>Usando</a:t>
            </a:r>
            <a:r>
              <a:rPr lang="en-US" altLang="es-ES" sz="1600"/>
              <a:t> filtros</a:t>
            </a:r>
            <a:r>
              <a:rPr lang="es-ES" altLang="en-US" sz="1600"/>
              <a:t>,</a:t>
            </a:r>
            <a:r>
              <a:rPr lang="en-US" altLang="es-ES" sz="1600"/>
              <a:t> </a:t>
            </a:r>
            <a:r>
              <a:rPr lang="es-ES" altLang="en-US" sz="1600"/>
              <a:t>t</a:t>
            </a:r>
            <a:r>
              <a:rPr lang="en-US" altLang="es-ES" sz="1600"/>
              <a:t>ipo, categor</a:t>
            </a:r>
            <a:r>
              <a:rPr lang="en-US" altLang="en-US" sz="1600"/>
              <a:t>í</a:t>
            </a:r>
            <a:r>
              <a:rPr lang="en-US" altLang="es-ES" sz="1600"/>
              <a:t>a y ubicaci</a:t>
            </a:r>
            <a:r>
              <a:rPr lang="en-US" altLang="en-US" sz="1600"/>
              <a:t>ó</a:t>
            </a:r>
            <a:r>
              <a:rPr lang="en-US" altLang="es-ES" sz="1600"/>
              <a:t>n.</a:t>
            </a:r>
          </a:p>
        </p:txBody>
      </p:sp>
      <p:sp>
        <p:nvSpPr>
          <p:cNvPr id="8" name="Cuadro de texto 7"/>
          <p:cNvSpPr txBox="1"/>
          <p:nvPr/>
        </p:nvSpPr>
        <p:spPr>
          <a:xfrm>
            <a:off x="4429760" y="1281430"/>
            <a:ext cx="4064000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Font typeface="Arial" panose="020B0604020202020204" pitchFamily="34" charset="0"/>
              <a:buNone/>
            </a:pPr>
            <a:r>
              <a:rPr lang="es-ES" altLang="en-US" sz="2400" b="1">
                <a:sym typeface="+mn-ea"/>
              </a:rPr>
              <a:t>Operación:</a:t>
            </a:r>
            <a:br>
              <a:rPr lang="es-ES" altLang="en-US" b="1">
                <a:sym typeface="+mn-ea"/>
              </a:rPr>
            </a:br>
            <a:endParaRPr lang="en-US" altLang="es-ES" b="1"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b="1">
                <a:sym typeface="+mn-ea"/>
              </a:rPr>
              <a:t>Publicado en internet</a:t>
            </a:r>
            <a:r>
              <a:rPr lang="es-ES" altLang="en-US" b="1">
                <a:sym typeface="+mn-ea"/>
              </a:rPr>
              <a:t>:</a:t>
            </a:r>
            <a:r>
              <a:rPr lang="en-US" altLang="es-ES" sz="1600">
                <a:sym typeface="+mn-ea"/>
              </a:rPr>
              <a:t> </a:t>
            </a:r>
            <a:r>
              <a:rPr lang="es-ES" altLang="en-US" sz="1600">
                <a:sym typeface="+mn-ea"/>
              </a:rPr>
              <a:t>Usando</a:t>
            </a:r>
            <a:r>
              <a:rPr lang="en-US" altLang="es-ES" sz="1600">
                <a:sym typeface="+mn-ea"/>
              </a:rPr>
              <a:t> los datos guardados de forma permanente.</a:t>
            </a:r>
            <a:endParaRPr lang="en-US" altLang="es-E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b="1">
                <a:sym typeface="+mn-ea"/>
              </a:rPr>
              <a:t>Pruebas autom</a:t>
            </a:r>
            <a:r>
              <a:rPr lang="en-US" altLang="en-US" b="1">
                <a:sym typeface="+mn-ea"/>
              </a:rPr>
              <a:t>á</a:t>
            </a:r>
            <a:r>
              <a:rPr lang="en-US" altLang="es-ES" b="1">
                <a:sym typeface="+mn-ea"/>
              </a:rPr>
              <a:t>ticas</a:t>
            </a:r>
            <a:r>
              <a:rPr lang="es-ES" altLang="en-US" b="1">
                <a:sym typeface="+mn-ea"/>
              </a:rPr>
              <a:t>:</a:t>
            </a:r>
            <a:r>
              <a:rPr lang="en-US" altLang="es-ES" sz="1600">
                <a:sym typeface="+mn-ea"/>
              </a:rPr>
              <a:t> </a:t>
            </a:r>
            <a:r>
              <a:rPr lang="es-ES" altLang="en-US" sz="1600">
                <a:sym typeface="+mn-ea"/>
              </a:rPr>
              <a:t>R</a:t>
            </a:r>
            <a:r>
              <a:rPr lang="en-US" altLang="es-ES" sz="1600">
                <a:sym typeface="+mn-ea"/>
              </a:rPr>
              <a:t>evisan que todo siga funcionando cada vez que se cambia algo.</a:t>
            </a:r>
          </a:p>
        </p:txBody>
      </p:sp>
      <p:sp>
        <p:nvSpPr>
          <p:cNvPr id="2" name="Cuadro de texto 1"/>
          <p:cNvSpPr txBox="1"/>
          <p:nvPr/>
        </p:nvSpPr>
        <p:spPr>
          <a:xfrm>
            <a:off x="2040255" y="4399280"/>
            <a:ext cx="406400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s-ES" altLang="en-US" sz="2400" b="1">
                <a:sym typeface="+mn-ea"/>
              </a:rPr>
              <a:t>Inteligencia: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s-ES" b="1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b="1">
                <a:sym typeface="+mn-ea"/>
              </a:rPr>
              <a:t>Emparejamiento autom</a:t>
            </a:r>
            <a:r>
              <a:rPr lang="en-US" altLang="en-US" b="1">
                <a:sym typeface="+mn-ea"/>
              </a:rPr>
              <a:t>á</a:t>
            </a:r>
            <a:r>
              <a:rPr lang="en-US" altLang="es-ES" b="1">
                <a:sym typeface="+mn-ea"/>
              </a:rPr>
              <a:t>tico:</a:t>
            </a:r>
            <a:r>
              <a:rPr lang="en-US" altLang="es-ES">
                <a:sym typeface="+mn-ea"/>
              </a:rPr>
              <a:t> </a:t>
            </a:r>
            <a:r>
              <a:rPr lang="es-ES" altLang="en-US">
                <a:sym typeface="+mn-ea"/>
              </a:rPr>
              <a:t>E</a:t>
            </a:r>
            <a:r>
              <a:rPr lang="en-US" altLang="es-ES">
                <a:sym typeface="+mn-ea"/>
              </a:rPr>
              <a:t>l sistema detecta solo cu</a:t>
            </a:r>
            <a:r>
              <a:rPr lang="en-US" altLang="en-US">
                <a:sym typeface="+mn-ea"/>
              </a:rPr>
              <a:t>á</a:t>
            </a:r>
            <a:r>
              <a:rPr lang="en-US" altLang="es-ES">
                <a:sym typeface="+mn-ea"/>
              </a:rPr>
              <a:t>ndo un objeto perdido coincide con uno encontrado.</a:t>
            </a:r>
            <a:endParaRPr lang="es-ES" altLang="en-US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415" y="1864360"/>
            <a:ext cx="2342515" cy="3909060"/>
          </a:xfrm>
          <a:prstGeom prst="rect">
            <a:avLst/>
          </a:prstGeom>
        </p:spPr>
      </p:pic>
      <p:pic>
        <p:nvPicPr>
          <p:cNvPr id="7" name="Imagen 6" descr="pngwing.com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630" y="1170940"/>
            <a:ext cx="4176395" cy="5687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532876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15" y="1209675"/>
            <a:ext cx="5676265" cy="4611370"/>
          </a:xfrm>
          <a:prstGeom prst="rect">
            <a:avLst/>
          </a:prstGeom>
        </p:spPr>
      </p:pic>
      <p:pic>
        <p:nvPicPr>
          <p:cNvPr id="2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075" y="1209675"/>
            <a:ext cx="4424680" cy="461073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2364740" y="5883910"/>
            <a:ext cx="273621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s-ES" b="1"/>
              <a:t>Publicaci</a:t>
            </a:r>
            <a:r>
              <a:rPr lang="en-US" altLang="en-US" b="1"/>
              <a:t>ó</a:t>
            </a:r>
            <a:r>
              <a:rPr lang="en-US" altLang="es-ES" b="1"/>
              <a:t>n de objetos</a:t>
            </a:r>
          </a:p>
        </p:txBody>
      </p:sp>
      <p:sp>
        <p:nvSpPr>
          <p:cNvPr id="4" name="Cuadro de texto 3"/>
          <p:cNvSpPr txBox="1"/>
          <p:nvPr/>
        </p:nvSpPr>
        <p:spPr>
          <a:xfrm>
            <a:off x="7627620" y="5883910"/>
            <a:ext cx="306959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s-ES" b="1"/>
              <a:t>B</a:t>
            </a:r>
            <a:r>
              <a:rPr lang="en-US" altLang="en-US" b="1"/>
              <a:t>ú</a:t>
            </a:r>
            <a:r>
              <a:rPr lang="en-US" altLang="es-ES" b="1"/>
              <a:t>squeda y coincidencias</a:t>
            </a:r>
          </a:p>
        </p:txBody>
      </p:sp>
      <p:sp>
        <p:nvSpPr>
          <p:cNvPr id="6" name="Cuadro de texto 5"/>
          <p:cNvSpPr txBox="1"/>
          <p:nvPr/>
        </p:nvSpPr>
        <p:spPr>
          <a:xfrm>
            <a:off x="3977640" y="294005"/>
            <a:ext cx="4236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s-ES" sz="2800" b="1"/>
              <a:t>AVANCE FUNCIONAL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46000" y="0"/>
            <a:ext cx="10500000" cy="864235"/>
          </a:xfrm>
        </p:spPr>
        <p:txBody>
          <a:bodyPr/>
          <a:lstStyle/>
          <a:p>
            <a:r>
              <a:rPr lang="es-ES" altLang="en-US"/>
              <a:t>¿POR QUÉ ARQUITECTURA HEXAGONAL?</a:t>
            </a:r>
          </a:p>
        </p:txBody>
      </p:sp>
      <p:sp>
        <p:nvSpPr>
          <p:cNvPr id="11" name="Cliente Flutter"/>
          <p:cNvSpPr/>
          <p:nvPr/>
        </p:nvSpPr>
        <p:spPr>
          <a:xfrm>
            <a:off x="600000" y="1000000"/>
            <a:ext cx="4900000" cy="500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Cliente móvil Flutter</a:t>
            </a:r>
          </a:p>
        </p:txBody>
      </p:sp>
      <p:sp>
        <p:nvSpPr>
          <p:cNvPr id="12" name="Flecha 1"/>
          <p:cNvSpPr/>
          <p:nvPr/>
        </p:nvSpPr>
        <p:spPr>
          <a:xfrm>
            <a:off x="2900000" y="1540000"/>
            <a:ext cx="300000" cy="23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API NestJS"/>
          <p:cNvSpPr/>
          <p:nvPr/>
        </p:nvSpPr>
        <p:spPr>
          <a:xfrm>
            <a:off x="600000" y="1810000"/>
            <a:ext cx="4900000" cy="560000"/>
          </a:xfrm>
          <a:prstGeom prst="rect">
            <a:avLst/>
          </a:prstGeom>
          <a:solidFill>
            <a:srgbClr val="0A4D3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1500" b="1">
                <a:solidFill>
                  <a:srgbClr val="FFFFFF"/>
                </a:solidFill>
              </a:rPr>
              <a:t>API REST en NestJS (adaptador de entrada)</a:t>
            </a:r>
          </a:p>
        </p:txBody>
      </p:sp>
      <p:sp>
        <p:nvSpPr>
          <p:cNvPr id="14" name="Flecha 2"/>
          <p:cNvSpPr/>
          <p:nvPr/>
        </p:nvSpPr>
        <p:spPr>
          <a:xfrm>
            <a:off x="2900000" y="2410000"/>
            <a:ext cx="300000" cy="23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Nucleo"/>
          <p:cNvSpPr/>
          <p:nvPr/>
        </p:nvSpPr>
        <p:spPr>
          <a:xfrm>
            <a:off x="600000" y="2680000"/>
            <a:ext cx="4900000" cy="1000000"/>
          </a:xfrm>
          <a:prstGeom prst="rect">
            <a:avLst/>
          </a:prstGeom>
          <a:solidFill>
            <a:srgbClr val="01A36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Dominio y casos de uso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Crear, consultar y buscar publicaciones · Buscar coincidencias</a:t>
            </a:r>
          </a:p>
        </p:txBody>
      </p:sp>
      <p:sp>
        <p:nvSpPr>
          <p:cNvPr id="16" name="Flecha 3"/>
          <p:cNvSpPr/>
          <p:nvPr/>
        </p:nvSpPr>
        <p:spPr>
          <a:xfrm>
            <a:off x="2900000" y="3720000"/>
            <a:ext cx="300000" cy="23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Etiqueta puerto"/>
          <p:cNvSpPr/>
          <p:nvPr/>
        </p:nvSpPr>
        <p:spPr>
          <a:xfrm>
            <a:off x="3300000" y="3690000"/>
            <a:ext cx="2200000" cy="29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200" b="0">
                <a:solidFill>
                  <a:srgbClr val="BFBFBF"/>
                </a:solidFill>
              </a:rPr>
              <a:t>puerto de persistencia</a:t>
            </a:r>
          </a:p>
        </p:txBody>
      </p:sp>
      <p:sp>
        <p:nvSpPr>
          <p:cNvPr id="18" name="Adaptador Postgres"/>
          <p:cNvSpPr/>
          <p:nvPr/>
        </p:nvSpPr>
        <p:spPr>
          <a:xfrm>
            <a:off x="600000" y="4000000"/>
            <a:ext cx="2400000" cy="600000"/>
          </a:xfrm>
          <a:prstGeom prst="rect">
            <a:avLst/>
          </a:prstGeom>
          <a:solidFill>
            <a:srgbClr val="0A4D3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1400" b="1">
                <a:solidFill>
                  <a:srgbClr val="FFFFFF"/>
                </a:solidFill>
              </a:rPr>
              <a:t>PostgreSQL (producción)</a:t>
            </a:r>
          </a:p>
        </p:txBody>
      </p:sp>
      <p:sp>
        <p:nvSpPr>
          <p:cNvPr id="19" name="Adaptador memoria"/>
          <p:cNvSpPr/>
          <p:nvPr/>
        </p:nvSpPr>
        <p:spPr>
          <a:xfrm>
            <a:off x="3100000" y="4000000"/>
            <a:ext cx="2400000" cy="60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1400" b="1">
                <a:solidFill>
                  <a:srgbClr val="FFFFFF"/>
                </a:solidFill>
              </a:rPr>
              <a:t>En memoria (pruebas)</a:t>
            </a:r>
          </a:p>
        </p:txBody>
      </p:sp>
      <p:sp>
        <p:nvSpPr>
          <p:cNvPr id="20" name="Tarjeta Cambiamos de stack sin tocar el dominio"/>
          <p:cNvSpPr/>
          <p:nvPr/>
        </p:nvSpPr>
        <p:spPr>
          <a:xfrm>
            <a:off x="5800000" y="1000000"/>
            <a:ext cx="5792000" cy="1150000"/>
          </a:xfrm>
          <a:prstGeom prst="rect">
            <a:avLst/>
          </a:prstGeom>
          <a:solidFill>
            <a:srgbClr val="0A4D3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Cambiamos de stack sin tocar el dominio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Pasamos de Express a NestJS conservando domain/ y application/. Las pruebas siguieron en verde.</a:t>
            </a:r>
          </a:p>
        </p:txBody>
      </p:sp>
      <p:sp>
        <p:nvSpPr>
          <p:cNvPr id="21" name="Tarjeta PostgreSQL entró sin cambiar los casos de uso"/>
          <p:cNvSpPr/>
          <p:nvPr/>
        </p:nvSpPr>
        <p:spPr>
          <a:xfrm>
            <a:off x="5800000" y="2250000"/>
            <a:ext cx="5792000" cy="1150000"/>
          </a:xfrm>
          <a:prstGeom prst="rect">
            <a:avLst/>
          </a:prstGeom>
          <a:solidFill>
            <a:srgbClr val="0A4D3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PostgreSQL entró sin cambiar los casos de uso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Con DATABASE_URL usa PostgreSQL; sin ella, el adaptador en memoria. Los casos de uso no cambian.</a:t>
            </a:r>
          </a:p>
        </p:txBody>
      </p:sp>
      <p:sp>
        <p:nvSpPr>
          <p:cNvPr id="22" name="Tarjeta Si falla la base, Recobra no se cae"/>
          <p:cNvSpPr/>
          <p:nvPr/>
        </p:nvSpPr>
        <p:spPr>
          <a:xfrm>
            <a:off x="5800000" y="3500000"/>
            <a:ext cx="5792000" cy="1150000"/>
          </a:xfrm>
          <a:prstGeom prst="rect">
            <a:avLst/>
          </a:prstGeom>
          <a:solidFill>
            <a:srgbClr val="0A4D38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Si falla la base, Recobra no se cae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Si la base cae, responde 503 sin detalles internos y /health/ready lo avisa. El emparejamiento corre por evento y no frena la publicación.</a:t>
            </a:r>
          </a:p>
        </p:txBody>
      </p:sp>
      <p:sp>
        <p:nvSpPr>
          <p:cNvPr id="23" name="Frente a capas"/>
          <p:cNvSpPr/>
          <p:nvPr/>
        </p:nvSpPr>
        <p:spPr>
          <a:xfrm>
            <a:off x="600000" y="4900000"/>
            <a:ext cx="5446000" cy="150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45720" rIns="137160" bIns="4572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¿Por qué no capas ni monolito modular?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En capas, el servicio llamaría directo a la base y las reglas de emparejamiento quedarían atadas a ella. En el monolito modular, nada impide que un módulo use la base de otro.</a:t>
            </a:r>
          </a:p>
        </p:txBody>
      </p:sp>
      <p:sp>
        <p:nvSpPr>
          <p:cNvPr id="24" name="Costo"/>
          <p:cNvSpPr/>
          <p:nvPr/>
        </p:nvSpPr>
        <p:spPr>
          <a:xfrm>
            <a:off x="6146000" y="4900000"/>
            <a:ext cx="5446000" cy="150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lIns="137160" tIns="45720" rIns="137160" bIns="4572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ES" sz="1600" b="1">
                <a:solidFill>
                  <a:srgbClr val="FFFFFF"/>
                </a:solidFill>
              </a:rPr>
              <a:t>El costo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s-ES" sz="1400" b="0">
                <a:solidFill>
                  <a:srgbClr val="FFFFFF"/>
                </a:solidFill>
              </a:rPr>
              <a:t>Más archivos y puertos para una funcionalidad pequeña. Fue la parte que tuvimos que aprender durante el desarrollo.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s-ES" altLang="en-US">
                <a:sym typeface="+mn-ea"/>
              </a:rPr>
              <a:t>¿QUÉ NOS FALTA?</a:t>
            </a:r>
            <a:endParaRPr lang="es-ES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s-ES" altLang="en-US"/>
              <a:t> 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00" y="1633220"/>
            <a:ext cx="2844800" cy="609600"/>
          </a:xfrm>
        </p:spPr>
        <p:txBody>
          <a:bodyPr>
            <a:noAutofit/>
          </a:bodyPr>
          <a:lstStyle/>
          <a:p>
            <a:r>
              <a:rPr lang="es-ES" altLang="en-US" sz="1800" b="1">
                <a:sym typeface="+mn-ea"/>
              </a:rPr>
              <a:t>Diseño y experiencia de usuario</a:t>
            </a:r>
            <a:endParaRPr lang="es-ES" altLang="en-US" sz="1800" b="1"/>
          </a:p>
          <a:p>
            <a:endParaRPr lang="es-ES" altLang="en-US" sz="1800" b="1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741045" y="2242820"/>
            <a:ext cx="3162300" cy="2756535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>
                <a:sym typeface="+mn-ea"/>
              </a:rPr>
              <a:t>Dise</a:t>
            </a:r>
            <a:r>
              <a:rPr altLang="en-US">
                <a:sym typeface="+mn-ea"/>
              </a:rPr>
              <a:t>ñ</a:t>
            </a:r>
            <a:r>
              <a:rPr altLang="es-ES">
                <a:sym typeface="+mn-ea"/>
              </a:rPr>
              <a:t>o general de la aplicaci</a:t>
            </a:r>
            <a:r>
              <a:rPr altLang="en-US">
                <a:sym typeface="+mn-ea"/>
              </a:rPr>
              <a:t>ó</a:t>
            </a:r>
            <a:r>
              <a:rPr altLang="es-ES">
                <a:sym typeface="+mn-ea"/>
              </a:rPr>
              <a:t>n.</a:t>
            </a:r>
            <a:endParaRPr lang="en-US" altLang="es-E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>
                <a:sym typeface="+mn-ea"/>
              </a:rPr>
              <a:t>Aplicar los colores y el estilo de la UTB.</a:t>
            </a:r>
            <a:endParaRPr lang="en-US" altLang="es-E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>
                <a:sym typeface="+mn-ea"/>
              </a:rPr>
              <a:t>UI y UX: que sea clara y f</a:t>
            </a:r>
            <a:r>
              <a:rPr altLang="en-US">
                <a:sym typeface="+mn-ea"/>
              </a:rPr>
              <a:t>á</a:t>
            </a:r>
            <a:r>
              <a:rPr altLang="es-ES">
                <a:sym typeface="+mn-ea"/>
              </a:rPr>
              <a:t>cil de usar en celular y en computador.</a:t>
            </a:r>
            <a:endParaRPr lang="en-US" altLang="es-ES"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>
              <a:sym typeface="+mn-ea"/>
            </a:endParaRPr>
          </a:p>
        </p:txBody>
      </p:sp>
      <p:sp>
        <p:nvSpPr>
          <p:cNvPr id="6" name="装饰  9"/>
          <p:cNvSpPr>
            <a:spLocks noGrp="1"/>
          </p:cNvSpPr>
          <p:nvPr>
            <p:ph type="body" idx="16394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s-ES" altLang="en-US"/>
              <a:t> </a:t>
            </a:r>
          </a:p>
        </p:txBody>
      </p:sp>
      <p:sp>
        <p:nvSpPr>
          <p:cNvPr id="7" name="Marcador de posición de texto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673600" y="1633220"/>
            <a:ext cx="2844800" cy="406400"/>
          </a:xfrm>
        </p:spPr>
        <p:txBody>
          <a:bodyPr/>
          <a:lstStyle/>
          <a:p>
            <a:r>
              <a:rPr lang="en-US" altLang="es-ES" b="1"/>
              <a:t>Escalabilidad</a:t>
            </a:r>
          </a:p>
        </p:txBody>
      </p:sp>
      <p:sp>
        <p:nvSpPr>
          <p:cNvPr id="9" name="装饰  2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s-ES" altLang="en-US"/>
              <a:t> </a:t>
            </a:r>
          </a:p>
        </p:txBody>
      </p:sp>
      <p:sp>
        <p:nvSpPr>
          <p:cNvPr id="10" name="Marcador de posición de texto 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8432800" y="1633220"/>
            <a:ext cx="2844800" cy="406400"/>
          </a:xfrm>
        </p:spPr>
        <p:txBody>
          <a:bodyPr/>
          <a:lstStyle/>
          <a:p>
            <a:r>
              <a:rPr lang="en-US" altLang="es-ES" b="1"/>
              <a:t>Funcionalidades</a:t>
            </a:r>
          </a:p>
        </p:txBody>
      </p:sp>
      <p:sp>
        <p:nvSpPr>
          <p:cNvPr id="17" name="Marcador de posición de texto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88655" y="2242820"/>
            <a:ext cx="3162300" cy="275653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en-US" sz="1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rgbClr val="FFFFFF"/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 sz="1400">
                <a:sym typeface="+mn-ea"/>
              </a:rPr>
              <a:t>Avisar al usuario cuando hay una coincidencia (notificaciones).</a:t>
            </a: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 sz="1400">
                <a:sym typeface="+mn-ea"/>
              </a:rPr>
              <a:t>Reclamar un objeto verificando que es de quien lo pide.</a:t>
            </a: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 sz="1400">
                <a:sym typeface="+mn-ea"/>
              </a:rPr>
              <a:t>Cuentas de usuario.</a:t>
            </a: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s-E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altLang="es-ES" sz="1400">
                <a:sym typeface="+mn-ea"/>
              </a:rPr>
              <a:t>Seguir el estado de cada objeto hasta que se entrega.</a:t>
            </a:r>
            <a:endParaRPr lang="en-US" altLang="es-ES" sz="1400"/>
          </a:p>
          <a:p>
            <a:pPr algn="l"/>
            <a:endParaRPr lang="en-US" altLang="es-ES" sz="1400">
              <a:sym typeface="+mn-ea"/>
            </a:endParaRPr>
          </a:p>
        </p:txBody>
      </p:sp>
      <p:sp>
        <p:nvSpPr>
          <p:cNvPr id="19" name="Marcador de posición de texto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514850" y="2242820"/>
            <a:ext cx="3162300" cy="275653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en-US" sz="1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rgbClr val="FFFFFF"/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s-ES" altLang="en-US" sz="1800">
                <a:sym typeface="+mn-ea"/>
              </a:rPr>
              <a:t>Cumple con 200 usuarios a la vez (157 ms). Falta medir la carga de ruptura y configurar copias de seguridad.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594485" y="2201545"/>
            <a:ext cx="9342755" cy="2110105"/>
          </a:xfrm>
        </p:spPr>
        <p:txBody>
          <a:bodyPr/>
          <a:lstStyle/>
          <a:p>
            <a:r>
              <a:rPr lang="es-ES" altLang="en-US"/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1596000" y="294005"/>
            <a:ext cx="9000000" cy="52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2800" b="1"/>
              <a:t>PUBLICADO EN INTERNET</a:t>
            </a:r>
          </a:p>
        </p:txBody>
      </p:sp>
      <p:pic>
        <p:nvPicPr>
          <p:cNvPr id="3" name="Servicio en Dokploy" descr="Despliegues en Dokploy y respuesta de /health/ready con almacenamiento postg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1618000"/>
            <a:ext cx="9000000" cy="2907973"/>
          </a:xfrm>
          <a:prstGeom prst="rect">
            <a:avLst/>
          </a:prstGeom>
        </p:spPr>
      </p:pic>
      <p:sp>
        <p:nvSpPr>
          <p:cNvPr id="4" name="Pie"/>
          <p:cNvSpPr txBox="1"/>
          <p:nvPr/>
        </p:nvSpPr>
        <p:spPr>
          <a:xfrm>
            <a:off x="1596000" y="5044163"/>
            <a:ext cx="9000000" cy="9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1800" b="1"/>
              <a:t>Servicio activo en Dokploy</a:t>
            </a:r>
          </a:p>
          <a:p>
            <a:pPr algn="ctr">
              <a:spcBef>
                <a:spcPts val="300"/>
              </a:spcBef>
            </a:pPr>
            <a:r>
              <a:rPr lang="es-ES" sz="1600" b="0"/>
              <a:t>Se despliega solo con cada cambio · recobra.iscoutb.dev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1596000" y="294005"/>
            <a:ext cx="9000000" cy="52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2800" b="1"/>
              <a:t>LO QUE SIGUE</a:t>
            </a:r>
          </a:p>
        </p:txBody>
      </p:sp>
      <p:sp>
        <p:nvSpPr>
          <p:cNvPr id="10" name="Circulo 1"/>
          <p:cNvSpPr/>
          <p:nvPr/>
        </p:nvSpPr>
        <p:spPr>
          <a:xfrm>
            <a:off x="894715" y="1500000"/>
            <a:ext cx="700000" cy="700000"/>
          </a:xfrm>
          <a:prstGeom prst="ellipse">
            <a:avLst/>
          </a:prstGeom>
          <a:solidFill>
            <a:srgbClr val="01A36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Paso 1"/>
          <p:cNvSpPr txBox="1"/>
          <p:nvPr/>
        </p:nvSpPr>
        <p:spPr>
          <a:xfrm>
            <a:off x="1850000" y="1380000"/>
            <a:ext cx="4800000" cy="94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s-ES" sz="2000" b="1"/>
              <a:t>Diseño y colores de la UTB</a:t>
            </a:r>
          </a:p>
          <a:p>
            <a:pPr algn="l">
              <a:spcBef>
                <a:spcPts val="300"/>
              </a:spcBef>
            </a:pPr>
            <a:r>
              <a:rPr lang="es-ES" sz="1600" b="0"/>
              <a:t>UI y UX clara en celular y en computador</a:t>
            </a:r>
          </a:p>
        </p:txBody>
      </p:sp>
      <p:sp>
        <p:nvSpPr>
          <p:cNvPr id="11" name="Circulo 2"/>
          <p:cNvSpPr/>
          <p:nvPr/>
        </p:nvSpPr>
        <p:spPr>
          <a:xfrm>
            <a:off x="894715" y="2950000"/>
            <a:ext cx="700000" cy="700000"/>
          </a:xfrm>
          <a:prstGeom prst="ellipse">
            <a:avLst/>
          </a:prstGeom>
          <a:solidFill>
            <a:srgbClr val="01A36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Paso 2"/>
          <p:cNvSpPr txBox="1"/>
          <p:nvPr/>
        </p:nvSpPr>
        <p:spPr>
          <a:xfrm>
            <a:off x="1850000" y="2830000"/>
            <a:ext cx="4800000" cy="94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s-ES" sz="2000" b="1"/>
              <a:t>Cuentas y reclamación</a:t>
            </a:r>
          </a:p>
          <a:p>
            <a:pPr algn="l">
              <a:spcBef>
                <a:spcPts val="300"/>
              </a:spcBef>
            </a:pPr>
            <a:r>
              <a:rPr lang="es-ES" sz="1600" b="0"/>
              <a:t>Verificar que el objeto es de quien lo pide</a:t>
            </a:r>
          </a:p>
        </p:txBody>
      </p:sp>
      <p:sp>
        <p:nvSpPr>
          <p:cNvPr id="12" name="Circulo 3"/>
          <p:cNvSpPr/>
          <p:nvPr/>
        </p:nvSpPr>
        <p:spPr>
          <a:xfrm>
            <a:off x="894715" y="4400000"/>
            <a:ext cx="700000" cy="700000"/>
          </a:xfrm>
          <a:prstGeom prst="ellipse">
            <a:avLst/>
          </a:prstGeom>
          <a:solidFill>
            <a:srgbClr val="01A36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E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Paso 3"/>
          <p:cNvSpPr txBox="1"/>
          <p:nvPr/>
        </p:nvSpPr>
        <p:spPr>
          <a:xfrm>
            <a:off x="1850000" y="4280000"/>
            <a:ext cx="4800000" cy="94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s-ES" sz="2000" b="1"/>
              <a:t>Notificaciones</a:t>
            </a:r>
          </a:p>
          <a:p>
            <a:pPr algn="l">
              <a:spcBef>
                <a:spcPts val="300"/>
              </a:spcBef>
            </a:pPr>
            <a:r>
              <a:rPr lang="es-ES" sz="1600" b="0"/>
              <a:t>Avisar al usuario cuando hay una coincidencia</a:t>
            </a:r>
          </a:p>
        </p:txBody>
      </p:sp>
      <p:pic>
        <p:nvPicPr>
          <p:cNvPr id="30" name="Primera versión de la interfaz" descr="Primera versión de la interfa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1250000"/>
            <a:ext cx="4063030" cy="4000000"/>
          </a:xfrm>
          <a:prstGeom prst="rect">
            <a:avLst/>
          </a:prstGeom>
        </p:spPr>
      </p:pic>
      <p:sp>
        <p:nvSpPr>
          <p:cNvPr id="31" name="Pie imagen"/>
          <p:cNvSpPr txBox="1"/>
          <p:nvPr/>
        </p:nvSpPr>
        <p:spPr>
          <a:xfrm>
            <a:off x="7000000" y="5350000"/>
            <a:ext cx="4600000" cy="8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s-ES" sz="1400" b="0"/>
              <a:t>Primera versión de la interfaz, antes del rediseño con los colores de la UTB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1596000" y="294005"/>
            <a:ext cx="9000000" cy="52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2800" b="1"/>
              <a:t>RESULTADO DEL EXPERIMENTO</a:t>
            </a:r>
          </a:p>
        </p:txBody>
      </p:sp>
      <p:pic>
        <p:nvPicPr>
          <p:cNvPr id="3" name="Resultado S1" descr="Latencia p97,5 de la busqueda: Render con 20 conexiones 1113 ms; Dokploy con 20, 100 y 200 conexiones 127, 137 y 157 ms; umbral 400 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1100000"/>
            <a:ext cx="9000000" cy="3794163"/>
          </a:xfrm>
          <a:prstGeom prst="rect">
            <a:avLst/>
          </a:prstGeom>
        </p:spPr>
      </p:pic>
      <p:sp>
        <p:nvSpPr>
          <p:cNvPr id="4" name="Pie"/>
          <p:cNvSpPr txBox="1"/>
          <p:nvPr/>
        </p:nvSpPr>
        <p:spPr>
          <a:xfrm>
            <a:off x="1596000" y="5044163"/>
            <a:ext cx="9000000" cy="9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1800" b="1"/>
              <a:t>157 ms con 200 usuarios a la vez (umbral: 400 ms)</a:t>
            </a:r>
          </a:p>
          <a:p>
            <a:pPr algn="ctr">
              <a:spcBef>
                <a:spcPts val="300"/>
              </a:spcBef>
            </a:pPr>
            <a:r>
              <a:rPr lang="es-ES" sz="1600" b="0"/>
              <a:t>Render con 20 usuarios: 1.113 ms · Costo en Dokploy: $0 al mes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78a8135bfa979c6e2615d89180855d377a740"/>
  <p:tag name="KSO_WM_NEWLAYOUT_ID" val="slide_d171c85291120dbc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  <p:tag name="KSO_WM_SLIDE_THEME_ID" val="3302484"/>
  <p:tag name="KSO_WM_SLIDE_THEME_NAME" val="Green Technology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57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Add description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57_1*f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Nam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5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5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57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57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57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d171c85291120dbc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78a8135bfa979c6e2615d89180855d377a740"/>
  <p:tag name="KSO_WM_NEWLAYOUT_ID" val="slide_d171c85291120dbc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THANK YOU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Microsoft Office PowerPoint</Application>
  <PresentationFormat>Panorámica</PresentationFormat>
  <Paragraphs>106</Paragraphs>
  <Slides>9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WPS</vt:lpstr>
      <vt:lpstr>Office Theme</vt:lpstr>
      <vt:lpstr>RECOBRA</vt:lpstr>
      <vt:lpstr>Presentación de PowerPoint</vt:lpstr>
      <vt:lpstr>Presentación de PowerPoint</vt:lpstr>
      <vt:lpstr>¿QUÉ ES Y COMO FUNCIONA “RECOBRA”?</vt:lpstr>
      <vt:lpstr>¿Qué tenemos?</vt:lpstr>
      <vt:lpstr>Presentación de PowerPoint</vt:lpstr>
      <vt:lpstr>ARQUITECTURA DEL PROGRAMA</vt:lpstr>
      <vt:lpstr>¿QUÉ NOS FALTA?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RECOBRA</dc:title>
  <dc:creator/>
  <cp:lastModifiedBy>Miguel Alejandro Jacome Yanez</cp:lastModifiedBy>
  <cp:revision>12</cp:revision>
  <dcterms:created xsi:type="dcterms:W3CDTF">2026-10-05T00:08:00Z</dcterms:created>
  <dcterms:modified xsi:type="dcterms:W3CDTF">2026-10-05T14:28:33Z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3082-12.1.0.28485</vt:lpwstr>
  </property>
  <property fmtid="{D5CDD505-2E9C-101B-9397-08002B2CF9AE}" pid="3" name="ICV">
    <vt:lpwstr>175255F8E9BF421FB323311257D938AF_12</vt:lpwstr>
  </property>
</Properties>
</file>